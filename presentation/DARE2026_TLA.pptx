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9" r:id="rId4"/>
    <p:sldId id="260" r:id="rId5"/>
    <p:sldId id="271" r:id="rId6"/>
    <p:sldId id="272" r:id="rId7"/>
    <p:sldId id="273" r:id="rId8"/>
    <p:sldId id="274" r:id="rId9"/>
    <p:sldId id="263" r:id="rId10"/>
    <p:sldId id="264" r:id="rId11"/>
    <p:sldId id="265" r:id="rId12"/>
    <p:sldId id="266" r:id="rId13"/>
    <p:sldId id="277" r:id="rId14"/>
    <p:sldId id="278" r:id="rId15"/>
    <p:sldId id="276" r:id="rId16"/>
    <p:sldId id="268" r:id="rId17"/>
    <p:sldId id="275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091"/>
    <p:restoredTop sz="94636"/>
  </p:normalViewPr>
  <p:slideViewPr>
    <p:cSldViewPr snapToGrid="0">
      <p:cViewPr varScale="1">
        <p:scale>
          <a:sx n="180" d="100"/>
          <a:sy n="180" d="100"/>
        </p:scale>
        <p:origin x="200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36EC01-D839-6F8B-1F59-7A9A3F52DE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EBCBB-B037-7788-C75A-B3DFD35547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B3CCC-638C-1B43-DFC0-E4B0787A8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4260F-D484-7966-974D-9DBA14669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FDC6A-B7EB-1920-1259-D93DE5916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951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33975-6FB5-AF8F-5FD0-484282E080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C91BC-934E-E7B3-E5E4-237CA1079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BDD770-6F34-25C3-0B05-17CFF3F76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98F204-FC8D-D875-7E1B-321AB54FE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219BAB-A016-2665-98B6-00A6A6AFEB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98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C79B6-07C2-F0CF-0BCB-AC395163FC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D1625F-A690-8489-6E04-EAE691109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CC08CF-FC9D-8F91-8BDE-C73377829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159231-0F5C-3968-7DC3-3189A694B8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101411-7D8B-3BD3-DBFC-1FFC83B89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47257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35CF-9BFA-BCCE-CE09-A2A6F896E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42E27E-AAAD-98F0-73DE-92610BEC63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B45896-5D1B-2CD3-6362-3610C5B4AB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BEEBFD-EBBF-4D3E-1E7F-4498D59B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734B6F5-8593-A240-D679-02E784BEF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B6FA0B-4BBB-9E2C-8955-FE6064FB97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642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449CE7-3FF3-367E-4EDC-7775C7FCE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277DB-256D-CCCC-6CD8-54661719A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9494F0-D80D-5635-5F5A-BA50DC180F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EC1858-4ADD-505D-1435-C0EFDF1EC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9C4FF8-5E1C-B959-92F8-2405D6EB9BB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6C7AB75-B89F-AF10-6171-8F1FA8537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EE47C1C-A7AE-06DB-EDDB-4A3B5E74C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B9E96E-56F0-5BD0-628F-47D5CE421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620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F35D5-E24A-7722-18D5-0251B53A66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474653-BF0F-20AB-82E2-E1F8FFCDB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125C5C-DE7C-645F-8FAC-1551AC483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D45B7-7C01-7A0E-A021-FBF443254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0801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809C29-05A5-24CC-DAB2-DF24EB3454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9EBB61-FDAA-5B29-6198-B3A797320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48F392-AD22-3DE8-C0F6-1A7BDC479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0362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16593-8C00-9748-514D-35C6D4C2F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9F5B23-662B-4E57-4C20-FB9AC47E6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03B46F-76D7-DBA9-F21E-25B1F0294D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864429-1CE5-EF74-497C-8716E8CED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0406B-AF85-54D1-8B55-FD79B2CAE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6DDFBF-6F13-D6D6-5244-EF48260CD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4374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EDC6BE-D675-69BF-79EF-67452F831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358232-763F-BB39-B4B5-80DFCF2AD9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DAE87D-9152-00E0-385C-8720291E1D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E15137-F6E5-CD77-98E4-68E0318B72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141F47-ED18-F1D6-B4B7-AF80242B8A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3AA8CC-A0C3-912E-B997-FA5AFC8A5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94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768996-3C81-2BD0-0B24-9E7D860F8C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C4257-13B4-57F3-FCD5-5F093EB60E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C7BF9B-4D1D-2FDF-81AF-7E85DFE6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6F691-3EC1-BCFB-60A5-3634C85567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E3244-46F7-AFF8-8872-0456B6D83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28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C0B76DF-4EDD-AC80-8318-0B77816509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B058CE-E22E-AA70-52ED-2687490361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CE999D-F439-A7AF-3785-4458DEFB14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1979CC-117C-C736-B6A9-2B38C758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602F3-D90C-9D29-D6F1-B776AE2A1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24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E380CBE-E913-5390-F387-3F0253528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D2A707-CA22-F440-D2FC-1C25F32A41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D43632-223D-FCE2-9EAD-D1158852CD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5595A2-BCBF-2348-8EE0-9415E00D45B9}" type="datetimeFigureOut">
              <a:rPr lang="en-US" smtClean="0"/>
              <a:t>10/24/26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496268-A6A4-1937-4335-82B3A65EE1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EF8FCE-6ED8-5D2E-7018-3ACF42DCA8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BBD47D-5A34-AA4F-81C0-C87CE42259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360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E7AA7E8-8006-4E1F-A566-FCF37EE6F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B884CB-C200-EA76-DAEA-52F0E883F8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2910" y="1598246"/>
            <a:ext cx="4626709" cy="5122985"/>
          </a:xfrm>
        </p:spPr>
        <p:txBody>
          <a:bodyPr anchor="t">
            <a:normAutofit/>
          </a:bodyPr>
          <a:lstStyle/>
          <a:p>
            <a:pPr algn="l"/>
            <a:r>
              <a:rPr lang="en-US" sz="7400" dirty="0">
                <a:solidFill>
                  <a:srgbClr val="FFFFFF"/>
                </a:solidFill>
              </a:rPr>
              <a:t>Chain Replication in TLA+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C8F5518-CDB5-A6EF-5904-A07B0B8AE6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92994" y="1590840"/>
            <a:ext cx="5672176" cy="5095221"/>
          </a:xfrm>
        </p:spPr>
        <p:txBody>
          <a:bodyPr>
            <a:normAutofit/>
          </a:bodyPr>
          <a:lstStyle/>
          <a:p>
            <a:pPr algn="l"/>
            <a:r>
              <a:rPr lang="en-US" sz="4400" dirty="0">
                <a:solidFill>
                  <a:srgbClr val="FFFFFF"/>
                </a:solidFill>
              </a:rPr>
              <a:t>Specification and the limits of model checking</a:t>
            </a:r>
          </a:p>
          <a:p>
            <a:pPr algn="l"/>
            <a:endParaRPr lang="en-US" sz="4400" dirty="0">
              <a:solidFill>
                <a:srgbClr val="FFFFFF"/>
              </a:solidFill>
            </a:endParaRPr>
          </a:p>
          <a:p>
            <a:pPr algn="l"/>
            <a:endParaRPr lang="en-US" sz="4400" dirty="0">
              <a:solidFill>
                <a:srgbClr val="FFFFFF"/>
              </a:solidFill>
            </a:endParaRPr>
          </a:p>
          <a:p>
            <a:pPr algn="l"/>
            <a:endParaRPr lang="en-US" sz="4400" dirty="0">
              <a:solidFill>
                <a:srgbClr val="FFFFFF"/>
              </a:solidFill>
            </a:endParaRPr>
          </a:p>
          <a:p>
            <a:pPr algn="l"/>
            <a:r>
              <a:rPr lang="en-US" sz="2000" dirty="0">
                <a:solidFill>
                  <a:srgbClr val="FFFFFF"/>
                </a:solidFill>
              </a:rPr>
              <a:t>Proposed by Prof. Carla Ferreira</a:t>
            </a:r>
          </a:p>
          <a:p>
            <a:pPr algn="l"/>
            <a:r>
              <a:rPr lang="en-US" sz="2000" dirty="0">
                <a:solidFill>
                  <a:srgbClr val="FFFFFF"/>
                </a:solidFill>
              </a:rPr>
              <a:t>Implemented by João Brilha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47322" y="1589368"/>
            <a:ext cx="0" cy="5259754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88919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EFA9B6C6-A247-48A8-9A1C-1E36FA9456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A896D8-B926-9E10-A33B-623429863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Protocol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C5CB530E-515E-412C-9DF1-5F8FFBD6F3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712D4376-A578-4FF1-94FC-245E7A6A48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AEA7509D-F04F-40CB-A0B3-EEF16499CC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020367-4FD5-4596-8E10-C5F095CD8D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701119C-98BE-2BB5-D22C-A022B9283E0A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140B3-0810-E8B0-5081-96B2C3628A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2097740"/>
            <a:ext cx="10991990" cy="4170197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/>
              <a:t>Two types of requests:</a:t>
            </a:r>
          </a:p>
          <a:p>
            <a:pPr lvl="1"/>
            <a:r>
              <a:rPr lang="en-US" sz="2800" dirty="0"/>
              <a:t>Query requests, directed to the tail of the chain</a:t>
            </a:r>
          </a:p>
          <a:p>
            <a:pPr lvl="1"/>
            <a:r>
              <a:rPr lang="en-US" sz="2800" dirty="0"/>
              <a:t>Update requests, directed to the head of the chain</a:t>
            </a:r>
          </a:p>
          <a:p>
            <a:r>
              <a:rPr lang="en-US" sz="3200" dirty="0"/>
              <a:t>State changes are forwarded to the next element of the chain until the reply is sent by the tail</a:t>
            </a:r>
          </a:p>
        </p:txBody>
      </p:sp>
      <p:pic>
        <p:nvPicPr>
          <p:cNvPr id="7" name="Picture 6" descr="A diagram of the chain replication protocol">
            <a:extLst>
              <a:ext uri="{FF2B5EF4-FFF2-40B4-BE49-F238E27FC236}">
                <a16:creationId xmlns:a16="http://schemas.microsoft.com/office/drawing/2014/main" id="{89D0E1AC-0473-BBA8-CB7E-BAF6882310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2320" y="4454522"/>
            <a:ext cx="5601654" cy="239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4249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202BBD-096C-BAC5-AA9B-6130138AA9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ADD03001-3A6D-2E58-E497-EBBCF90ED3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3A6591-A153-2811-2129-EAA5B6D3A0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Assumptions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2197514A-ACA8-A684-A1B2-C1777EAE46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C2DA660B-8797-9EE9-9F75-49AD43A887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AFC5AA2C-3971-2421-46C9-16DD5DB1B8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6F2AFA8E-3675-E980-9A45-4106AD45E1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AE90906B-97C6-822E-015C-22AA9F9927CA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BBBC93-82E3-5200-D362-0295D1FAA7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2169458"/>
            <a:ext cx="10991990" cy="4098479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/>
              <a:t>The storage system is a single variable</a:t>
            </a:r>
          </a:p>
          <a:p>
            <a:r>
              <a:rPr lang="en-US" sz="3200" dirty="0"/>
              <a:t>No failures occur</a:t>
            </a:r>
          </a:p>
          <a:p>
            <a:r>
              <a:rPr lang="en-US" sz="3200" dirty="0"/>
              <a:t>The size of the chain is 2</a:t>
            </a:r>
          </a:p>
          <a:p>
            <a:r>
              <a:rPr lang="en-US" sz="3200" dirty="0"/>
              <a:t>State changes are forwarded along a reliable FIFO link to the next element</a:t>
            </a:r>
          </a:p>
        </p:txBody>
      </p:sp>
    </p:spTree>
    <p:extLst>
      <p:ext uri="{BB962C8B-B14F-4D97-AF65-F5344CB8AC3E}">
        <p14:creationId xmlns:p14="http://schemas.microsoft.com/office/powerpoint/2010/main" val="28229872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AD73BF-6AE8-C240-E7E2-698062BB46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33750A87-2E8D-CD83-8208-4C667B6BC8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E7326F-27A7-94EA-071F-C022A29920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model (Variables)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8E416261-69C0-F405-08F2-C023463EDA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5315AE75-23AB-093B-5190-2FD39ACBD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32018B8F-E099-047E-4FBC-D44DB2B7E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B4BBCDA-CDEE-772E-041C-082C2392BB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A1DE70B-0908-0C70-64AB-B5DC4CD01D6E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9C4EF-DA68-AF96-14D7-A14F37603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2160494"/>
            <a:ext cx="10991990" cy="410744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headVal</a:t>
            </a:r>
            <a:r>
              <a:rPr lang="en-US" sz="3200" dirty="0">
                <a:cs typeface="Consolas" panose="020B0609020204030204" pitchFamily="49" charset="0"/>
              </a:rPr>
              <a:t>, head’s copy of the stored value</a:t>
            </a:r>
          </a:p>
          <a:p>
            <a:r>
              <a:rPr lang="en-US" sz="32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tailVal</a:t>
            </a:r>
            <a:r>
              <a:rPr lang="en-US" sz="3200" dirty="0">
                <a:cs typeface="Consolas" panose="020B0609020204030204" pitchFamily="49" charset="0"/>
              </a:rPr>
              <a:t>, tail’s copy of the stored value</a:t>
            </a:r>
          </a:p>
          <a:p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sz="3200" dirty="0">
                <a:cs typeface="Consolas" panose="020B0609020204030204" pitchFamily="49" charset="0"/>
              </a:rPr>
              <a:t>, between head and tail (FIFO)</a:t>
            </a:r>
          </a:p>
          <a:p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replies</a:t>
            </a:r>
            <a:r>
              <a:rPr lang="en-US" sz="3200" dirty="0">
                <a:cs typeface="Consolas" panose="020B0609020204030204" pitchFamily="49" charset="0"/>
              </a:rPr>
              <a:t>, every reply tail has sent</a:t>
            </a:r>
          </a:p>
          <a:p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updates</a:t>
            </a:r>
            <a:r>
              <a:rPr lang="en-US" sz="3200" dirty="0">
                <a:cs typeface="Consolas" panose="020B0609020204030204" pitchFamily="49" charset="0"/>
              </a:rPr>
              <a:t>, every update head has applied</a:t>
            </a:r>
          </a:p>
          <a:p>
            <a:pPr lvl="1"/>
            <a:endParaRPr lang="en-US" sz="2800" dirty="0"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7383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0439BC-FBCB-549F-8556-C716C5C06C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6659856D-C521-2B01-3036-B921AD9DED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16037C-2E89-7109-08B3-1895DCFD5D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model (Actions)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C599F253-1A2A-12D1-8FA4-F47E8A2C5A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57B7C41D-E627-2F4F-648B-9D57A34ACF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27C7DE23-5A9A-DBEC-3817-D66843ABD8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7ECD4D1-3725-1048-6FB3-3751811528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FD092C4-3F0F-672D-A47C-F587A7F81051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600F2-7215-0EAE-3DAC-07E28BF17B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2133600"/>
            <a:ext cx="10991990" cy="413433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Update(v)</a:t>
            </a:r>
            <a:r>
              <a:rPr lang="en-US" sz="3200" dirty="0"/>
              <a:t>, stores the value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v</a:t>
            </a:r>
            <a:r>
              <a:rPr lang="en-US" sz="3200" dirty="0"/>
              <a:t> at the head of the chain, and appends it to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sz="3200" dirty="0"/>
              <a:t>, to be forwarded to the tail</a:t>
            </a:r>
          </a:p>
          <a:p>
            <a:endParaRPr lang="en-US" sz="3200" dirty="0"/>
          </a:p>
          <a:p>
            <a:pPr marL="0" indent="0">
              <a:buNone/>
            </a:pPr>
            <a:endParaRPr lang="en-US" sz="2400" b="1" dirty="0">
              <a:solidFill>
                <a:schemeClr val="tx2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B835E-6481-BDF6-8B10-474E4751D9DC}"/>
              </a:ext>
            </a:extLst>
          </p:cNvPr>
          <p:cNvSpPr txBox="1"/>
          <p:nvPr/>
        </p:nvSpPr>
        <p:spPr>
          <a:xfrm>
            <a:off x="2981659" y="3626235"/>
            <a:ext cx="6202975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Update(v) ==</a:t>
            </a: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Len(updates) &lt;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MaxUpdates</a:t>
            </a:r>
            <a:endParaRPr lang="en-US" sz="2400" b="1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headVal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= v</a:t>
            </a: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link' = Append(link, v)</a:t>
            </a: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updates' = Append(updates, v)</a:t>
            </a: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UNCHANGED &lt;&lt;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tailVal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replies&gt;&gt;</a:t>
            </a:r>
          </a:p>
        </p:txBody>
      </p:sp>
    </p:spTree>
    <p:extLst>
      <p:ext uri="{BB962C8B-B14F-4D97-AF65-F5344CB8AC3E}">
        <p14:creationId xmlns:p14="http://schemas.microsoft.com/office/powerpoint/2010/main" val="37531420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71ABDF-FCE7-99F5-69CD-FC94731AE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08CD967-6EA0-B430-C67F-74A3EEE8A9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FCE0FD-3FB6-A5FC-08F5-24B26EDE23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model (Actions)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2F6A689A-8FCD-BA8E-210C-97577C77B8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D6C0802C-BEF9-70A7-B72A-6BDA490BC9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2E4550BE-7210-F3CC-11B7-2448DE423A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081F8A-32D2-1A38-8A13-3CD2143B5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112BE46D-FD48-6BF5-8440-F79A10B16C16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E4620-C5DA-83F3-30C8-ABB100A01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2142564"/>
            <a:ext cx="10991990" cy="41253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Forward</a:t>
            </a:r>
            <a:r>
              <a:rPr lang="en-US" sz="3200" dirty="0"/>
              <a:t>, “pops” the oldest value from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sz="3200" dirty="0"/>
              <a:t>, stores it at the tail of the chain, and appends an update reply to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replies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DA7737-0D6F-9003-A4E2-5C154B8E62ED}"/>
              </a:ext>
            </a:extLst>
          </p:cNvPr>
          <p:cNvSpPr txBox="1"/>
          <p:nvPr/>
        </p:nvSpPr>
        <p:spPr>
          <a:xfrm>
            <a:off x="45574" y="3640632"/>
            <a:ext cx="12100852" cy="230832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Forward ==</a:t>
            </a: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link # &lt;&lt;&gt;&gt;</a:t>
            </a: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tailVal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 = Head(link)</a:t>
            </a: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link' = Tail(link)</a:t>
            </a: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replies' = Append(replies, [op |-&gt; "update",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|-&gt; Head(link)])</a:t>
            </a: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UNCHANGED &lt;&lt;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headVal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updates&gt;&gt;</a:t>
            </a:r>
          </a:p>
        </p:txBody>
      </p:sp>
    </p:spTree>
    <p:extLst>
      <p:ext uri="{BB962C8B-B14F-4D97-AF65-F5344CB8AC3E}">
        <p14:creationId xmlns:p14="http://schemas.microsoft.com/office/powerpoint/2010/main" val="6393969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5AFFAC-7654-7A7B-F447-45BC62420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BB4F1CAD-A0F9-1FB5-BE2A-E3EED55F4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B5A6A-06C0-9407-DB43-111F127204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model (Actions)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D639F154-4C94-89C6-581B-69ABB5C1F3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A2E160D4-48DB-082C-7B73-A1D4343295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9AEA14ED-70A1-6B24-AB82-08ADB7166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38231BE-71B1-9392-7094-4F3117DE05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B110811-5767-2798-1429-3209DB8F5D9C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452C64-6FDA-CAC2-153C-698789934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2142564"/>
            <a:ext cx="10991990" cy="41253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  <a:r>
              <a:rPr lang="en-US" sz="3200" dirty="0"/>
              <a:t>, appends a reply with the value stored at the tail of the chain to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replies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186F14-020C-D63D-A848-22BA08535362}"/>
              </a:ext>
            </a:extLst>
          </p:cNvPr>
          <p:cNvSpPr txBox="1"/>
          <p:nvPr/>
        </p:nvSpPr>
        <p:spPr>
          <a:xfrm>
            <a:off x="430681" y="3586899"/>
            <a:ext cx="11330637" cy="15696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25400" cap="rnd">
            <a:noFill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 ==</a:t>
            </a: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QueryCount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&lt;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MaxQueries</a:t>
            </a:r>
            <a:endParaRPr lang="en-US" sz="2400" b="1" dirty="0">
              <a:solidFill>
                <a:schemeClr val="tx2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replies' = Append(replies, [op |-&gt; "query",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val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|-&gt;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tailVal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])</a:t>
            </a:r>
          </a:p>
          <a:p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/\ UNCHANGED &lt;&lt;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headVal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sz="2400" b="1" dirty="0" err="1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tailVal</a:t>
            </a:r>
            <a:r>
              <a:rPr lang="en-US" sz="24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link, updates&gt;&gt;</a:t>
            </a:r>
          </a:p>
        </p:txBody>
      </p:sp>
    </p:spTree>
    <p:extLst>
      <p:ext uri="{BB962C8B-B14F-4D97-AF65-F5344CB8AC3E}">
        <p14:creationId xmlns:p14="http://schemas.microsoft.com/office/powerpoint/2010/main" val="2464923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402019-3DEE-33C1-50AF-B2B360A867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2C7022AF-16F6-6819-807F-A711AB9EE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F0E94-73F5-5EBA-AF06-B8226B341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The model (Actions)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59230366-C160-B673-1B30-CDD99251C4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A8110B28-10C4-1EA4-224F-F3A2313F9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AC8C66A5-2914-0FAE-82E8-C3351AEEB2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FC581F1-120E-B33C-CC28-8E6677A997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715DF029-319A-7E85-CE8E-A2D79A488DF7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F1AFDC-F026-62FB-4F2F-07AE0D45C2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2142564"/>
            <a:ext cx="10991990" cy="412537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3200" dirty="0"/>
              <a:t>Each action writes to a single node, and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  <a:r>
              <a:rPr lang="en-US" sz="3200" dirty="0"/>
              <a:t> carries changes from the head to the tail</a:t>
            </a:r>
          </a:p>
          <a:p>
            <a:r>
              <a:rPr lang="en-US" sz="3200" dirty="0"/>
              <a:t>TLC explores every interleaving of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Update</a:t>
            </a:r>
            <a:r>
              <a:rPr lang="en-US" sz="3200" dirty="0"/>
              <a:t>,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Forward</a:t>
            </a:r>
            <a:r>
              <a:rPr lang="en-US" sz="3200" dirty="0"/>
              <a:t>, and </a:t>
            </a:r>
            <a:r>
              <a:rPr lang="en-US" sz="3200" b="1" dirty="0">
                <a:latin typeface="Consolas" panose="020B0609020204030204" pitchFamily="49" charset="0"/>
                <a:cs typeface="Consolas" panose="020B0609020204030204" pitchFamily="49" charset="0"/>
              </a:rPr>
              <a:t>Query</a:t>
            </a:r>
          </a:p>
        </p:txBody>
      </p:sp>
    </p:spTree>
    <p:extLst>
      <p:ext uri="{BB962C8B-B14F-4D97-AF65-F5344CB8AC3E}">
        <p14:creationId xmlns:p14="http://schemas.microsoft.com/office/powerpoint/2010/main" val="1058154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CF3A623-776B-2EC7-2C6F-FC1DF4CFD2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6154D3E-9826-344D-C519-92FC43149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969813-ADD1-EBA6-44F2-0AEDFBC42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Properties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CC59EC80-CDF6-D2B3-0A1E-D24D0A681D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3098F2BC-F7E5-DA84-4E55-BE8A2EF22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7E935CFC-8E79-7116-B332-D1E93890FA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C1D49854-F6FF-40DC-1188-FDC6D26D22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8854628-79D7-DF40-02BA-3FE228017167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3DB593-21B4-2757-8838-D1F1E549A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2070846"/>
            <a:ext cx="10991990" cy="419709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dirty="0"/>
              <a:t>Invariants:</a:t>
            </a:r>
          </a:p>
          <a:p>
            <a:pPr lvl="1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StrongConsistency</a:t>
            </a:r>
            <a:r>
              <a:rPr lang="en-US" sz="2400" dirty="0"/>
              <a:t>, every query returns the value of the last update acked before it</a:t>
            </a:r>
          </a:p>
          <a:p>
            <a:pPr lvl="1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HeadIsLatest</a:t>
            </a:r>
            <a:r>
              <a:rPr lang="en-US" sz="2400" dirty="0"/>
              <a:t>,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TailIsAcked</a:t>
            </a:r>
            <a:r>
              <a:rPr lang="en-US" sz="2400" dirty="0"/>
              <a:t>, and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LinkHasPending</a:t>
            </a:r>
            <a:r>
              <a:rPr lang="en-US" sz="2400" dirty="0"/>
              <a:t> explain why it holds</a:t>
            </a:r>
          </a:p>
          <a:p>
            <a:r>
              <a:rPr lang="en-US" sz="2800" dirty="0"/>
              <a:t>Liveness:</a:t>
            </a:r>
          </a:p>
          <a:p>
            <a:pPr lvl="1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EveryUpdateIsAcked</a:t>
            </a:r>
            <a:r>
              <a:rPr lang="en-US" sz="2400" dirty="0"/>
              <a:t>, with weak fairness on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Forward</a:t>
            </a:r>
          </a:p>
          <a:p>
            <a:r>
              <a:rPr lang="en-US" sz="2800" dirty="0"/>
              <a:t>All pass on the baseline model: 369 states, or 186 with symmetry</a:t>
            </a:r>
          </a:p>
        </p:txBody>
      </p:sp>
    </p:spTree>
    <p:extLst>
      <p:ext uri="{BB962C8B-B14F-4D97-AF65-F5344CB8AC3E}">
        <p14:creationId xmlns:p14="http://schemas.microsoft.com/office/powerpoint/2010/main" val="18804125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203DD5-F11B-5BB8-96D7-04B68A477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FCC33BCA-E237-0CA4-24DA-EB36155973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F6ACC3-33E6-CC88-3BFB-A4EA69F41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Breaking the model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8D74160F-9656-FA28-12C4-4C90B8548E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5BB46688-3596-F2BB-BB8C-B70C41DA86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7709F48D-5AD2-DC89-75D6-BDE7F41263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10DAEDE-5E27-FAF5-A53B-8AEEA5656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49E9ECA8-B4DE-4A16-8BCA-0587589CE10C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A85E4-8FDE-92B9-34DE-C7952CE9BB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1987498"/>
            <a:ext cx="10991990" cy="42804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BadSpec</a:t>
            </a:r>
            <a:r>
              <a:rPr lang="en-US" sz="2800" dirty="0"/>
              <a:t>, queries read at the head node:</a:t>
            </a:r>
          </a:p>
          <a:p>
            <a:pPr lvl="1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StrongConsistency</a:t>
            </a:r>
            <a:r>
              <a:rPr lang="en-US" sz="2400" dirty="0"/>
              <a:t> fails in 2 steps</a:t>
            </a:r>
          </a:p>
          <a:p>
            <a:pPr lvl="1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Update(v1)</a:t>
            </a:r>
            <a:r>
              <a:rPr lang="en-US" sz="2400" dirty="0"/>
              <a:t>, then a query returns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v1</a:t>
            </a:r>
            <a:r>
              <a:rPr lang="en-US" sz="2400" dirty="0"/>
              <a:t> before the tail acks it</a:t>
            </a:r>
          </a:p>
          <a:p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NoFairSpec</a:t>
            </a:r>
            <a:r>
              <a:rPr lang="en-US" sz="2800" dirty="0"/>
              <a:t>, no fairness on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Forward</a:t>
            </a:r>
            <a:r>
              <a:rPr lang="en-US" sz="2800" dirty="0"/>
              <a:t>:</a:t>
            </a:r>
          </a:p>
          <a:p>
            <a:pPr lvl="1"/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EveryUpdateIsAcked</a:t>
            </a:r>
            <a:r>
              <a:rPr lang="en-US" sz="2400" dirty="0"/>
              <a:t> fails</a:t>
            </a:r>
          </a:p>
          <a:p>
            <a:pPr lvl="1"/>
            <a:r>
              <a:rPr lang="en-US" sz="2400" dirty="0"/>
              <a:t>The trace stutters forever with an update stuck in </a:t>
            </a:r>
            <a:r>
              <a:rPr lang="en-US" sz="2400" b="1" dirty="0">
                <a:latin typeface="Consolas" panose="020B0609020204030204" pitchFamily="49" charset="0"/>
                <a:cs typeface="Consolas" panose="020B0609020204030204" pitchFamily="49" charset="0"/>
              </a:rPr>
              <a:t>link</a:t>
            </a:r>
          </a:p>
        </p:txBody>
      </p:sp>
    </p:spTree>
    <p:extLst>
      <p:ext uri="{BB962C8B-B14F-4D97-AF65-F5344CB8AC3E}">
        <p14:creationId xmlns:p14="http://schemas.microsoft.com/office/powerpoint/2010/main" val="304687104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804DF9F-7477-C101-8B51-CF5B08EB7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21E5EA5-E87D-3144-772A-1BD2744CE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7C3A4D-65C4-030E-4F62-25366F2FBA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Experimental setup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F9703F1B-6D71-D5AB-33F8-4845A79D36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CDE6E7A3-86FA-91D6-4268-3FB54075FA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8778C49B-B3A8-DEAA-ACEC-29AA4D9C17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CFDD7ED-A412-3239-DFAB-577474D076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ED98BD8-EF65-6BBC-36AF-A211A510C6FE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79B76-CB1C-45CA-746A-A7CA97DDD7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1987498"/>
            <a:ext cx="10991990" cy="4280440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dirty="0"/>
              <a:t>Baseline: 2 values, 3 updates, 2 queries</a:t>
            </a:r>
          </a:p>
          <a:p>
            <a:r>
              <a:rPr lang="en-US" sz="2800" dirty="0"/>
              <a:t>Sweep one constant at a time, with and without symmetry</a:t>
            </a:r>
          </a:p>
          <a:p>
            <a:pPr lvl="1"/>
            <a:r>
              <a:rPr lang="en-US" sz="2400" dirty="0"/>
              <a:t>Invariants only, 120-second timeout, one run per model</a:t>
            </a:r>
          </a:p>
          <a:p>
            <a:r>
              <a:rPr lang="en-US" sz="2800" dirty="0"/>
              <a:t>Measure distinct states, depth, and time</a:t>
            </a:r>
          </a:p>
        </p:txBody>
      </p:sp>
    </p:spTree>
    <p:extLst>
      <p:ext uri="{BB962C8B-B14F-4D97-AF65-F5344CB8AC3E}">
        <p14:creationId xmlns:p14="http://schemas.microsoft.com/office/powerpoint/2010/main" val="3669185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753368A-9D9A-7BB4-1188-88C730CA92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7822DA2B-F5FB-6496-8F69-DF9F86C233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D7A62E-8A22-F4CA-B837-AEA6036F13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MaxUpdates is exponential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2D2818EF-E3CA-112F-E711-0BB773D99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A0E281EE-EFE7-EAD0-2A35-BCFEB880D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4623479F-D8AD-1719-5AA8-039A00814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978E3F4-046A-D910-2339-B166018BA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461E418-DCC5-D446-8159-10C5DB3AD6C1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EB2FA-1D57-04E9-932A-F07031AC25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2070846"/>
            <a:ext cx="4114800" cy="405563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About ×2.4 states per update</a:t>
            </a:r>
          </a:p>
          <a:p>
            <a:r>
              <a:rPr lang="en-US" sz="2000" dirty="0"/>
              <a:t>15 updates: 54.5M states in 71 s</a:t>
            </a:r>
          </a:p>
          <a:p>
            <a:r>
              <a:rPr lang="en-US" sz="2000" dirty="0"/>
              <a:t>Without symmetry, 16 updates time out</a:t>
            </a:r>
          </a:p>
          <a:p>
            <a:r>
              <a:rPr lang="en-US" sz="2000" dirty="0"/>
              <a:t>Symmetry halves the count, which allows for one more update</a:t>
            </a:r>
          </a:p>
          <a:p>
            <a:r>
              <a:rPr lang="en-US" sz="2000" dirty="0"/>
              <a:t>A constant factor doesn't beat exponential growth</a:t>
            </a:r>
          </a:p>
        </p:txBody>
      </p:sp>
      <p:pic>
        <p:nvPicPr>
          <p:cNvPr id="100" name="Chart 1" descr="Distinct states by MaxUpdates, with and without symmetry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827" y="2214594"/>
            <a:ext cx="6920598" cy="432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7291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5D5072-FDEC-841B-71A5-8655F82AE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5EB73446-96A4-09CB-495E-9CC774187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166268-0A42-0063-9231-D997AD9AF4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 err="1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MaxQueries</a:t>
            </a:r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 </a:t>
            </a:r>
            <a:r>
              <a:rPr lang="en-US" sz="5600" dirty="0">
                <a:solidFill>
                  <a:srgbClr val="FFFFFF"/>
                </a:solidFill>
              </a:rPr>
              <a:t>grows </a:t>
            </a:r>
            <a:r>
              <a:rPr lang="en-US" sz="5600" dirty="0" err="1">
                <a:solidFill>
                  <a:srgbClr val="FFFFFF"/>
                </a:solidFill>
              </a:rPr>
              <a:t>polynomially</a:t>
            </a:r>
            <a:endParaRPr lang="en-US" sz="5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4ABE92D1-9C98-032B-2F81-96AEF071BC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35D130CF-E132-D545-A949-0359FA89F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53906A7D-820E-BEB8-6249-93B406322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E6132676-F55A-B2AF-8ABC-D0F451133D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582D210F-D6CA-E0C2-C803-1A85960B0D57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68477B-5459-79CA-FE27-FD45F651DB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2070846"/>
            <a:ext cx="4114800" cy="405563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60 queries: 5.6M states in 43 s, and no timeout</a:t>
            </a:r>
          </a:p>
          <a:p>
            <a:r>
              <a:rPr lang="en-US" sz="2000" dirty="0"/>
              <a:t>Doubling the queries multiplies the states by about 12</a:t>
            </a:r>
          </a:p>
          <a:p>
            <a:r>
              <a:rPr lang="en-US" sz="2000" dirty="0"/>
              <a:t>Symmetry halves the count, same as for </a:t>
            </a:r>
            <a:r>
              <a:rPr lang="en-US" sz="20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MaxUpdates</a:t>
            </a:r>
            <a:endParaRPr lang="en-US" sz="20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6" name="Picture 5" descr="A graph of a number of objects&#10;&#10;AI-generated content may be incorrect.">
            <a:extLst>
              <a:ext uri="{FF2B5EF4-FFF2-40B4-BE49-F238E27FC236}">
                <a16:creationId xmlns:a16="http://schemas.microsoft.com/office/drawing/2014/main" id="{307F753E-5868-9D52-CC63-1E3AE165A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827" y="2214594"/>
            <a:ext cx="6920598" cy="432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2423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0218AE-C939-AE23-6229-5512C840BE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0E2FE3F5-1094-D666-667D-E953F04BED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48EF8E-8789-150E-98AA-F5AB45F1A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Values </a:t>
            </a:r>
            <a:r>
              <a:rPr lang="en-US" sz="5600" dirty="0">
                <a:solidFill>
                  <a:srgbClr val="FFFFFF"/>
                </a:solidFill>
              </a:rPr>
              <a:t>grows </a:t>
            </a:r>
            <a:r>
              <a:rPr lang="en-US" sz="5600" dirty="0" err="1">
                <a:solidFill>
                  <a:srgbClr val="FFFFFF"/>
                </a:solidFill>
              </a:rPr>
              <a:t>polynomially</a:t>
            </a:r>
            <a:endParaRPr lang="en-US" sz="56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85740571-0B9E-52BC-3E95-9090F75745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BE5104C3-CA84-6EF0-D256-FACE22CB40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189DC744-BB42-D81D-BBEB-F54242C5BB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EDBE29-AC6A-A41D-1130-9ACDA7AFEF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5FAC294-FA51-B38A-F5F8-45096070ED0E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58B448-2DDC-8DA7-BCF8-4BBD45CEBA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2070846"/>
            <a:ext cx="4114800" cy="405563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Without symmetry, growth is about V³, because each of the 3 updates picks one of V values</a:t>
            </a:r>
          </a:p>
          <a:p>
            <a:pPr lvl="1"/>
            <a:r>
              <a:rPr lang="en-US" sz="1600" dirty="0"/>
              <a:t>40 values give 2.2M states in 3 s</a:t>
            </a:r>
          </a:p>
          <a:p>
            <a:r>
              <a:rPr lang="en-US" sz="2000" dirty="0"/>
              <a:t>With symmetry, the count stays at 220 from 3 values on</a:t>
            </a:r>
          </a:p>
          <a:p>
            <a:pPr lvl="1"/>
            <a:r>
              <a:rPr lang="en-US" sz="1600" dirty="0"/>
              <a:t>3 updates use at most 3 distinct values, so any extra value is interchangeable with an unused one</a:t>
            </a:r>
            <a:endParaRPr lang="en-US" sz="1600" b="1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pic>
        <p:nvPicPr>
          <p:cNvPr id="7" name="Picture 6" descr="A graph of a number of values&#10;&#10;AI-generated content may be incorrect.">
            <a:extLst>
              <a:ext uri="{FF2B5EF4-FFF2-40B4-BE49-F238E27FC236}">
                <a16:creationId xmlns:a16="http://schemas.microsoft.com/office/drawing/2014/main" id="{9499E8BE-3DBE-73BE-D659-010D73E65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6827" y="2214594"/>
            <a:ext cx="6920598" cy="432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668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23297D-43F7-E782-293F-5FCAF91F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9A834923-8650-D104-CE12-5BC88623B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85D2E-44DC-3845-42D3-299C8102F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dirty="0">
                <a:solidFill>
                  <a:srgbClr val="FFFFFF"/>
                </a:solidFill>
              </a:rPr>
              <a:t>What s</a:t>
            </a:r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ymmetry costs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1539C427-2239-0542-1A5A-536D7F5292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D7535ACA-67B4-2E6D-7CDB-A5258B235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44BFF0C9-AF81-431C-4893-2DE533580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BADD5C54-0594-DD51-6C01-EDCFBC90AB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6637CF7F-239E-3D05-AC0C-78C52076B80E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09B93F-0B05-912F-3E52-8189BD5013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" y="2070846"/>
            <a:ext cx="4114800" cy="4055633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/>
              <a:t>With symmetry, under 0.5 s up to 6 values, then 1.9 s at 7, 97 s at 8, and a timeout at 9</a:t>
            </a:r>
          </a:p>
          <a:p>
            <a:r>
              <a:rPr lang="en-US" sz="2000" dirty="0"/>
              <a:t>Without symmetry, the line stays under 3 seconds across the value sweep</a:t>
            </a:r>
          </a:p>
          <a:p>
            <a:r>
              <a:rPr lang="en-US" sz="2000" dirty="0"/>
              <a:t>For each state, TLC tries every permutation of Values: 40,320 at 8 values</a:t>
            </a:r>
          </a:p>
        </p:txBody>
      </p:sp>
      <p:pic>
        <p:nvPicPr>
          <p:cNvPr id="6" name="Picture 5" descr="A graph with a line and a number of values&#10;&#10;AI-generated content may be incorrect.">
            <a:extLst>
              <a:ext uri="{FF2B5EF4-FFF2-40B4-BE49-F238E27FC236}">
                <a16:creationId xmlns:a16="http://schemas.microsoft.com/office/drawing/2014/main" id="{A88D4CF1-E545-C1FF-A449-15C33D98D2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285" y="2208830"/>
            <a:ext cx="6939446" cy="4337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4169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B94B4FF-5D3A-71E9-6928-FD3D25533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BD579C4-3486-F063-2B4E-695DF5741D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746F7A-3AEE-F06D-016A-68A189F054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Conclusions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4E31DE0B-E4DB-26B2-06DB-1C657D2998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B82E75F3-3C43-6CF0-7933-61F1EE7A0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69F93E6A-75B4-BC5A-B07E-D99C53EB5F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4AF8A49-C81D-5D07-1C4E-A8AE0F2B2B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6FEA967-0275-0658-AD58-FCE19067E58F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68EB2C-0C95-70D1-8E7F-9CA8EBDA63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2088776"/>
            <a:ext cx="10991990" cy="41791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dirty="0"/>
              <a:t>The protocol satisfies strong consistency and liveness in every model checked</a:t>
            </a:r>
          </a:p>
          <a:p>
            <a:r>
              <a:rPr lang="en-US" sz="2800" dirty="0"/>
              <a:t>Only </a:t>
            </a:r>
            <a:r>
              <a:rPr lang="en-US" sz="2800" b="1" dirty="0">
                <a:latin typeface="Consolas" panose="020B0609020204030204" pitchFamily="49" charset="0"/>
                <a:cs typeface="Consolas" panose="020B0609020204030204" pitchFamily="49" charset="0"/>
              </a:rPr>
              <a:t>MaxUpdates</a:t>
            </a:r>
            <a:r>
              <a:rPr lang="en-US" sz="2800" dirty="0"/>
              <a:t> limits the model: 15 updates, or 16 with symmetry</a:t>
            </a:r>
          </a:p>
          <a:p>
            <a:r>
              <a:rPr lang="en-US" dirty="0"/>
              <a:t>Symmetry pays off for small sets and large state spaces, like the </a:t>
            </a:r>
            <a:r>
              <a:rPr lang="en-US" b="1" dirty="0" err="1">
                <a:latin typeface="Consolas" panose="020B0609020204030204" pitchFamily="49" charset="0"/>
                <a:cs typeface="Consolas" panose="020B0609020204030204" pitchFamily="49" charset="0"/>
              </a:rPr>
              <a:t>MaxUpdates</a:t>
            </a:r>
            <a:r>
              <a:rPr lang="en-US" dirty="0"/>
              <a:t> sweep</a:t>
            </a:r>
            <a:endParaRPr lang="en-US" sz="2800" dirty="0"/>
          </a:p>
          <a:p>
            <a:r>
              <a:rPr lang="en-US" sz="2800" dirty="0"/>
              <a:t>Small models can still catch real issues: the </a:t>
            </a:r>
            <a:r>
              <a:rPr lang="en-US" sz="2800"/>
              <a:t>head-read bug in </a:t>
            </a:r>
            <a:r>
              <a:rPr lang="en-US" sz="2800" b="1" dirty="0" err="1">
                <a:latin typeface="Consolas" panose="020B0609020204030204" pitchFamily="49" charset="0"/>
                <a:cs typeface="Consolas" panose="020B0609020204030204" pitchFamily="49" charset="0"/>
              </a:rPr>
              <a:t>BadSpec</a:t>
            </a:r>
            <a:r>
              <a:rPr lang="en-US" dirty="0"/>
              <a:t> </a:t>
            </a:r>
            <a:r>
              <a:rPr lang="en-US" sz="2800" dirty="0"/>
              <a:t>shows up in 2 steps</a:t>
            </a:r>
          </a:p>
        </p:txBody>
      </p:sp>
    </p:spTree>
    <p:extLst>
      <p:ext uri="{BB962C8B-B14F-4D97-AF65-F5344CB8AC3E}">
        <p14:creationId xmlns:p14="http://schemas.microsoft.com/office/powerpoint/2010/main" val="21067987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64C54F-379B-0960-1664-AF754957B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C1325D5D-9802-D2DB-28D6-B3C2133652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FF02B5-2234-12B8-44AA-B59854CD65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1261" y="590062"/>
            <a:ext cx="10616164" cy="130675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AI usage</a:t>
            </a:r>
          </a:p>
        </p:txBody>
      </p:sp>
      <p:sp>
        <p:nvSpPr>
          <p:cNvPr id="29" name="Graphic 13">
            <a:extLst>
              <a:ext uri="{FF2B5EF4-FFF2-40B4-BE49-F238E27FC236}">
                <a16:creationId xmlns:a16="http://schemas.microsoft.com/office/drawing/2014/main" id="{F1B6FE64-06AD-D1CD-77DB-7AA9A34AFE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17602" y="2744546"/>
            <a:ext cx="139038" cy="139038"/>
          </a:xfrm>
          <a:custGeom>
            <a:avLst/>
            <a:gdLst>
              <a:gd name="connsiteX0" fmla="*/ 129601 w 139038"/>
              <a:gd name="connsiteY0" fmla="*/ 60082 h 139038"/>
              <a:gd name="connsiteX1" fmla="*/ 78956 w 139038"/>
              <a:gd name="connsiteY1" fmla="*/ 60082 h 139038"/>
              <a:gd name="connsiteX2" fmla="*/ 78956 w 139038"/>
              <a:gd name="connsiteY2" fmla="*/ 9437 h 139038"/>
              <a:gd name="connsiteX3" fmla="*/ 69519 w 139038"/>
              <a:gd name="connsiteY3" fmla="*/ 0 h 139038"/>
              <a:gd name="connsiteX4" fmla="*/ 60082 w 139038"/>
              <a:gd name="connsiteY4" fmla="*/ 9437 h 139038"/>
              <a:gd name="connsiteX5" fmla="*/ 60082 w 139038"/>
              <a:gd name="connsiteY5" fmla="*/ 60082 h 139038"/>
              <a:gd name="connsiteX6" fmla="*/ 9437 w 139038"/>
              <a:gd name="connsiteY6" fmla="*/ 60082 h 139038"/>
              <a:gd name="connsiteX7" fmla="*/ 0 w 139038"/>
              <a:gd name="connsiteY7" fmla="*/ 69519 h 139038"/>
              <a:gd name="connsiteX8" fmla="*/ 9437 w 139038"/>
              <a:gd name="connsiteY8" fmla="*/ 78956 h 139038"/>
              <a:gd name="connsiteX9" fmla="*/ 60082 w 139038"/>
              <a:gd name="connsiteY9" fmla="*/ 78956 h 139038"/>
              <a:gd name="connsiteX10" fmla="*/ 60082 w 139038"/>
              <a:gd name="connsiteY10" fmla="*/ 129601 h 139038"/>
              <a:gd name="connsiteX11" fmla="*/ 69519 w 139038"/>
              <a:gd name="connsiteY11" fmla="*/ 139038 h 139038"/>
              <a:gd name="connsiteX12" fmla="*/ 78956 w 139038"/>
              <a:gd name="connsiteY12" fmla="*/ 129601 h 139038"/>
              <a:gd name="connsiteX13" fmla="*/ 78956 w 139038"/>
              <a:gd name="connsiteY13" fmla="*/ 78956 h 139038"/>
              <a:gd name="connsiteX14" fmla="*/ 129601 w 139038"/>
              <a:gd name="connsiteY14" fmla="*/ 78956 h 139038"/>
              <a:gd name="connsiteX15" fmla="*/ 139038 w 139038"/>
              <a:gd name="connsiteY15" fmla="*/ 69519 h 139038"/>
              <a:gd name="connsiteX16" fmla="*/ 129601 w 139038"/>
              <a:gd name="connsiteY16" fmla="*/ 60082 h 139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8" h="139038">
                <a:moveTo>
                  <a:pt x="129601" y="60082"/>
                </a:moveTo>
                <a:lnTo>
                  <a:pt x="78956" y="60082"/>
                </a:lnTo>
                <a:lnTo>
                  <a:pt x="78956" y="9437"/>
                </a:lnTo>
                <a:cubicBezTo>
                  <a:pt x="78956" y="4225"/>
                  <a:pt x="74731" y="0"/>
                  <a:pt x="69519" y="0"/>
                </a:cubicBezTo>
                <a:cubicBezTo>
                  <a:pt x="64307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7"/>
                  <a:pt x="0" y="69519"/>
                </a:cubicBezTo>
                <a:cubicBezTo>
                  <a:pt x="0" y="74731"/>
                  <a:pt x="4225" y="78956"/>
                  <a:pt x="9437" y="78956"/>
                </a:cubicBezTo>
                <a:lnTo>
                  <a:pt x="60082" y="78956"/>
                </a:lnTo>
                <a:lnTo>
                  <a:pt x="60082" y="129601"/>
                </a:lnTo>
                <a:cubicBezTo>
                  <a:pt x="60082" y="134813"/>
                  <a:pt x="64307" y="139038"/>
                  <a:pt x="69519" y="139038"/>
                </a:cubicBezTo>
                <a:cubicBezTo>
                  <a:pt x="74731" y="139038"/>
                  <a:pt x="78956" y="134813"/>
                  <a:pt x="78956" y="129601"/>
                </a:cubicBezTo>
                <a:lnTo>
                  <a:pt x="78956" y="78956"/>
                </a:lnTo>
                <a:lnTo>
                  <a:pt x="129601" y="78956"/>
                </a:lnTo>
                <a:cubicBezTo>
                  <a:pt x="134813" y="78956"/>
                  <a:pt x="139038" y="74731"/>
                  <a:pt x="139038" y="69519"/>
                </a:cubicBezTo>
                <a:cubicBezTo>
                  <a:pt x="139038" y="64307"/>
                  <a:pt x="134813" y="60082"/>
                  <a:pt x="129601" y="60082"/>
                </a:cubicBezTo>
                <a:close/>
              </a:path>
            </a:pathLst>
          </a:custGeom>
          <a:solidFill>
            <a:srgbClr val="FFFFFF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Graphic 12">
            <a:extLst>
              <a:ext uri="{FF2B5EF4-FFF2-40B4-BE49-F238E27FC236}">
                <a16:creationId xmlns:a16="http://schemas.microsoft.com/office/drawing/2014/main" id="{E4E07D67-7120-A228-CDDA-7773481D5B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76380" y="2973840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rgbClr val="FFFFFF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3" name="Graphic 15">
            <a:extLst>
              <a:ext uri="{FF2B5EF4-FFF2-40B4-BE49-F238E27FC236}">
                <a16:creationId xmlns:a16="http://schemas.microsoft.com/office/drawing/2014/main" id="{1608ED8B-0217-55EA-6918-4848512FA3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02062" y="3198265"/>
            <a:ext cx="127713" cy="127713"/>
          </a:xfrm>
          <a:custGeom>
            <a:avLst/>
            <a:gdLst>
              <a:gd name="connsiteX0" fmla="*/ 63857 w 127713"/>
              <a:gd name="connsiteY0" fmla="*/ 18874 h 127713"/>
              <a:gd name="connsiteX1" fmla="*/ 108839 w 127713"/>
              <a:gd name="connsiteY1" fmla="*/ 63857 h 127713"/>
              <a:gd name="connsiteX2" fmla="*/ 63857 w 127713"/>
              <a:gd name="connsiteY2" fmla="*/ 108839 h 127713"/>
              <a:gd name="connsiteX3" fmla="*/ 18874 w 127713"/>
              <a:gd name="connsiteY3" fmla="*/ 63857 h 127713"/>
              <a:gd name="connsiteX4" fmla="*/ 63857 w 127713"/>
              <a:gd name="connsiteY4" fmla="*/ 18874 h 127713"/>
              <a:gd name="connsiteX5" fmla="*/ 63857 w 127713"/>
              <a:gd name="connsiteY5" fmla="*/ 0 h 127713"/>
              <a:gd name="connsiteX6" fmla="*/ 0 w 127713"/>
              <a:gd name="connsiteY6" fmla="*/ 63857 h 127713"/>
              <a:gd name="connsiteX7" fmla="*/ 63857 w 127713"/>
              <a:gd name="connsiteY7" fmla="*/ 127713 h 127713"/>
              <a:gd name="connsiteX8" fmla="*/ 127713 w 127713"/>
              <a:gd name="connsiteY8" fmla="*/ 63857 h 127713"/>
              <a:gd name="connsiteX9" fmla="*/ 63857 w 127713"/>
              <a:gd name="connsiteY9" fmla="*/ 0 h 127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3" h="127713">
                <a:moveTo>
                  <a:pt x="63857" y="18874"/>
                </a:moveTo>
                <a:cubicBezTo>
                  <a:pt x="88700" y="18874"/>
                  <a:pt x="108839" y="39013"/>
                  <a:pt x="108839" y="63857"/>
                </a:cubicBezTo>
                <a:cubicBezTo>
                  <a:pt x="108839" y="88700"/>
                  <a:pt x="88700" y="108839"/>
                  <a:pt x="63857" y="108839"/>
                </a:cubicBezTo>
                <a:cubicBezTo>
                  <a:pt x="39013" y="108839"/>
                  <a:pt x="18874" y="88700"/>
                  <a:pt x="18874" y="63857"/>
                </a:cubicBezTo>
                <a:cubicBezTo>
                  <a:pt x="18898" y="39023"/>
                  <a:pt x="39023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3"/>
                  <a:pt x="63857" y="127713"/>
                </a:cubicBezTo>
                <a:cubicBezTo>
                  <a:pt x="99124" y="127713"/>
                  <a:pt x="127713" y="99124"/>
                  <a:pt x="127713" y="63857"/>
                </a:cubicBezTo>
                <a:cubicBezTo>
                  <a:pt x="127713" y="28590"/>
                  <a:pt x="99124" y="0"/>
                  <a:pt x="63857" y="0"/>
                </a:cubicBezTo>
                <a:close/>
              </a:path>
            </a:pathLst>
          </a:custGeom>
          <a:solidFill>
            <a:srgbClr val="FFFFFF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7E3B5818-AB60-48EA-D3EB-84D5ADF3F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301262" y="3496322"/>
            <a:ext cx="0" cy="3352800"/>
          </a:xfrm>
          <a:prstGeom prst="line">
            <a:avLst/>
          </a:prstGeom>
          <a:ln w="25400" cap="sq">
            <a:solidFill>
              <a:srgbClr val="FFFFFF"/>
            </a:soli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E720DE1B-0C25-74B0-8C43-013A7BA77404}"/>
              </a:ext>
            </a:extLst>
          </p:cNvPr>
          <p:cNvSpPr/>
          <p:nvPr/>
        </p:nvSpPr>
        <p:spPr>
          <a:xfrm>
            <a:off x="0" y="1896813"/>
            <a:ext cx="12192000" cy="496118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F410C-52DA-0B3B-A1BD-CA983E4534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152" y="2088776"/>
            <a:ext cx="10991990" cy="41791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800" dirty="0"/>
              <a:t>Claude Sonnet was used to:</a:t>
            </a:r>
          </a:p>
          <a:p>
            <a:pPr lvl="1"/>
            <a:r>
              <a:rPr lang="en-US" dirty="0"/>
              <a:t>Explain some TLA+ concepts and syntax</a:t>
            </a:r>
          </a:p>
          <a:p>
            <a:pPr lvl="1"/>
            <a:r>
              <a:rPr lang="en-US" dirty="0"/>
              <a:t>Create the helper scripts for scaling the model and plotting the results</a:t>
            </a:r>
          </a:p>
          <a:p>
            <a:pPr lvl="1"/>
            <a:r>
              <a:rPr lang="en-US" dirty="0"/>
              <a:t>Validate the final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10456312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827</Words>
  <Application>Microsoft Macintosh PowerPoint</Application>
  <PresentationFormat>Widescreen</PresentationFormat>
  <Paragraphs>96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Consolas</vt:lpstr>
      <vt:lpstr>Office Theme</vt:lpstr>
      <vt:lpstr>Chain Replication in TLA+</vt:lpstr>
      <vt:lpstr>Protocol</vt:lpstr>
      <vt:lpstr>Assumptions</vt:lpstr>
      <vt:lpstr>The model (Variables)</vt:lpstr>
      <vt:lpstr>The model (Actions)</vt:lpstr>
      <vt:lpstr>The model (Actions)</vt:lpstr>
      <vt:lpstr>The model (Actions)</vt:lpstr>
      <vt:lpstr>The model (Actions)</vt:lpstr>
      <vt:lpstr>Properties</vt:lpstr>
      <vt:lpstr>Breaking the model</vt:lpstr>
      <vt:lpstr>Experimental setup</vt:lpstr>
      <vt:lpstr>MaxUpdates is exponential</vt:lpstr>
      <vt:lpstr>MaxQueries grows polynomially</vt:lpstr>
      <vt:lpstr>Values grows polynomially</vt:lpstr>
      <vt:lpstr>What symmetry costs</vt:lpstr>
      <vt:lpstr>Conclusions</vt:lpstr>
      <vt:lpstr>AI usage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João Brilha</dc:creator>
  <cp:lastModifiedBy>João Brilha</cp:lastModifiedBy>
  <cp:revision>50</cp:revision>
  <dcterms:created xsi:type="dcterms:W3CDTF">2026-10-24T14:50:19Z</dcterms:created>
  <dcterms:modified xsi:type="dcterms:W3CDTF">2026-10-24T17:28:20Z</dcterms:modified>
</cp:coreProperties>
</file>